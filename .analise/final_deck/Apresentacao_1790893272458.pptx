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82fa858724fa3" /><Relationship Type="http://schemas.openxmlformats.org/officeDocument/2006/relationships/extended-properties" Target="/docProps/app.xml" Id="R44ddb162803744c5" /><Relationship Type="http://schemas.openxmlformats.org/officeDocument/2006/relationships/officeDocument" Target="/ppt/presentation.xml" Id="R19b1408ecfb6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17b1c03a44820"/>
  </p:sldMasterIdLst>
  <p:notesMasterIdLst>
    <p:notesMasterId xmlns:r="http://schemas.openxmlformats.org/officeDocument/2006/relationships" r:id="R3918d2c4f76c47d6"/>
  </p:notesMasterIdLst>
  <p:sldIdLst>
    <p:sldId xmlns:r="http://schemas.openxmlformats.org/officeDocument/2006/relationships" id="256" r:id="R911cfdf2228d4342"/>
    <p:sldId xmlns:r="http://schemas.openxmlformats.org/officeDocument/2006/relationships" id="257" r:id="R2552660c3b2649d7"/>
    <p:sldId xmlns:r="http://schemas.openxmlformats.org/officeDocument/2006/relationships" id="258" r:id="Rfc96d3a4794040de"/>
    <p:sldId xmlns:r="http://schemas.openxmlformats.org/officeDocument/2006/relationships" id="259" r:id="Ra180d16300a04f0a"/>
    <p:sldId xmlns:r="http://schemas.openxmlformats.org/officeDocument/2006/relationships" id="260" r:id="Rf81753036bfc4e5c"/>
    <p:sldId xmlns:r="http://schemas.openxmlformats.org/officeDocument/2006/relationships" id="261" r:id="R5eab0a9725f841c8"/>
    <p:sldId xmlns:r="http://schemas.openxmlformats.org/officeDocument/2006/relationships" id="262" r:id="R5bf240f7508745a7"/>
    <p:sldId xmlns:r="http://schemas.openxmlformats.org/officeDocument/2006/relationships" id="263" r:id="R3eca6c49f3bb4db8"/>
    <p:sldId xmlns:r="http://schemas.openxmlformats.org/officeDocument/2006/relationships" id="264" r:id="R539015e34f2b4ea6"/>
    <p:sldId xmlns:r="http://schemas.openxmlformats.org/officeDocument/2006/relationships" id="265" r:id="R4c7a68686bb3472d"/>
    <p:sldId xmlns:r="http://schemas.openxmlformats.org/officeDocument/2006/relationships" id="266" r:id="Rab6e5b8ce034425a"/>
    <p:sldId xmlns:r="http://schemas.openxmlformats.org/officeDocument/2006/relationships" id="267" r:id="R333f84ae51364d8d"/>
    <p:sldId xmlns:r="http://schemas.openxmlformats.org/officeDocument/2006/relationships" id="268" r:id="R8e1003ec6ee34ef0"/>
    <p:sldId xmlns:r="http://schemas.openxmlformats.org/officeDocument/2006/relationships" id="269" r:id="R1aba9635ae4d4605"/>
    <p:sldId xmlns:r="http://schemas.openxmlformats.org/officeDocument/2006/relationships" id="270" r:id="R6872d4d38fbc4ab2"/>
    <p:sldId xmlns:r="http://schemas.openxmlformats.org/officeDocument/2006/relationships" id="271" r:id="Rc92d70bf1c89431a"/>
    <p:sldId xmlns:r="http://schemas.openxmlformats.org/officeDocument/2006/relationships" id="272" r:id="Ra13467c55cb14b5d"/>
    <p:sldId xmlns:r="http://schemas.openxmlformats.org/officeDocument/2006/relationships" id="273" r:id="Rbef07386ae3b471b"/>
    <p:sldId xmlns:r="http://schemas.openxmlformats.org/officeDocument/2006/relationships" id="274" r:id="Rd2887eb3f18f44fa"/>
    <p:sldId xmlns:r="http://schemas.openxmlformats.org/officeDocument/2006/relationships" id="275" r:id="Rcd5d07a4573040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07d98e58174832" /><Relationship Type="http://schemas.openxmlformats.org/officeDocument/2006/relationships/slideMaster" Target="/ppt/slideMasters/slideMaster1.xml" Id="R74017b1c03a44820" /><Relationship Type="http://schemas.openxmlformats.org/officeDocument/2006/relationships/notesMaster" Target="/ppt/notesMasters/notesMaster1.xml" Id="R3918d2c4f76c47d6" /><Relationship Type="http://schemas.openxmlformats.org/officeDocument/2006/relationships/presProps" Target="/ppt/presProps.xml" Id="R1fb7a62951f44bc0" /><Relationship Type="http://schemas.openxmlformats.org/officeDocument/2006/relationships/tableStyles" Target="/ppt/tableStyles.xml" Id="R9fff03dfa09448e2" /><Relationship Type="http://schemas.openxmlformats.org/officeDocument/2006/relationships/slide" Target="/ppt/slides/slide1.xml" Id="R911cfdf2228d4342" /><Relationship Type="http://schemas.openxmlformats.org/officeDocument/2006/relationships/slide" Target="/ppt/slides/slide2.xml" Id="R2552660c3b2649d7" /><Relationship Type="http://schemas.openxmlformats.org/officeDocument/2006/relationships/slide" Target="/ppt/slides/slide3.xml" Id="Rfc96d3a4794040de" /><Relationship Type="http://schemas.openxmlformats.org/officeDocument/2006/relationships/slide" Target="/ppt/slides/slide4.xml" Id="Ra180d16300a04f0a" /><Relationship Type="http://schemas.openxmlformats.org/officeDocument/2006/relationships/slide" Target="/ppt/slides/slide5.xml" Id="Rf81753036bfc4e5c" /><Relationship Type="http://schemas.openxmlformats.org/officeDocument/2006/relationships/slide" Target="/ppt/slides/slide6.xml" Id="R5eab0a9725f841c8" /><Relationship Type="http://schemas.openxmlformats.org/officeDocument/2006/relationships/slide" Target="/ppt/slides/slide7.xml" Id="R5bf240f7508745a7" /><Relationship Type="http://schemas.openxmlformats.org/officeDocument/2006/relationships/slide" Target="/ppt/slides/slide8.xml" Id="R3eca6c49f3bb4db8" /><Relationship Type="http://schemas.openxmlformats.org/officeDocument/2006/relationships/slide" Target="/ppt/slides/slide9.xml" Id="R539015e34f2b4ea6" /><Relationship Type="http://schemas.openxmlformats.org/officeDocument/2006/relationships/slide" Target="/ppt/slides/slide10.xml" Id="R4c7a68686bb3472d" /><Relationship Type="http://schemas.openxmlformats.org/officeDocument/2006/relationships/slide" Target="/ppt/slides/slide11.xml" Id="Rab6e5b8ce034425a" /><Relationship Type="http://schemas.openxmlformats.org/officeDocument/2006/relationships/slide" Target="/ppt/slides/slide12.xml" Id="R333f84ae51364d8d" /><Relationship Type="http://schemas.openxmlformats.org/officeDocument/2006/relationships/slide" Target="/ppt/slides/slide13.xml" Id="R8e1003ec6ee34ef0" /><Relationship Type="http://schemas.openxmlformats.org/officeDocument/2006/relationships/slide" Target="/ppt/slides/slide14.xml" Id="R1aba9635ae4d4605" /><Relationship Type="http://schemas.openxmlformats.org/officeDocument/2006/relationships/slide" Target="/ppt/slides/slide15.xml" Id="R6872d4d38fbc4ab2" /><Relationship Type="http://schemas.openxmlformats.org/officeDocument/2006/relationships/slide" Target="/ppt/slides/slide16.xml" Id="Rc92d70bf1c89431a" /><Relationship Type="http://schemas.openxmlformats.org/officeDocument/2006/relationships/slide" Target="/ppt/slides/slide17.xml" Id="Ra13467c55cb14b5d" /><Relationship Type="http://schemas.openxmlformats.org/officeDocument/2006/relationships/slide" Target="/ppt/slides/slide18.xml" Id="Rbef07386ae3b471b" /><Relationship Type="http://schemas.openxmlformats.org/officeDocument/2006/relationships/slide" Target="/ppt/slides/slide19.xml" Id="Rd2887eb3f18f44fa" /><Relationship Type="http://schemas.openxmlformats.org/officeDocument/2006/relationships/slide" Target="/ppt/slides/slide20.xml" Id="Rcd5d07a45730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f53efccea4b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c8a7b335cd4319" /><Relationship Type="http://schemas.openxmlformats.org/officeDocument/2006/relationships/notesMaster" Target="/ppt/notesMasters/notesMaster1.xml" Id="R6a9e84bc9c6e4f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4728e6fed4391" /><Relationship Type="http://schemas.openxmlformats.org/officeDocument/2006/relationships/notesMaster" Target="/ppt/notesMasters/notesMaster1.xml" Id="Re0852636638144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322c8983884ac4" /><Relationship Type="http://schemas.openxmlformats.org/officeDocument/2006/relationships/notesMaster" Target="/ppt/notesMasters/notesMaster1.xml" Id="R8b074df028ab4b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1069f3226a44b0" /><Relationship Type="http://schemas.openxmlformats.org/officeDocument/2006/relationships/notesMaster" Target="/ppt/notesMasters/notesMaster1.xml" Id="R4267591329bf4a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efe970acb6403a" /><Relationship Type="http://schemas.openxmlformats.org/officeDocument/2006/relationships/notesMaster" Target="/ppt/notesMasters/notesMaster1.xml" Id="R899c47920c9d40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78d35c1f6d4e1b" /><Relationship Type="http://schemas.openxmlformats.org/officeDocument/2006/relationships/notesMaster" Target="/ppt/notesMasters/notesMaster1.xml" Id="R8b855ec9c1454f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5323e5391348d4" /><Relationship Type="http://schemas.openxmlformats.org/officeDocument/2006/relationships/notesMaster" Target="/ppt/notesMasters/notesMaster1.xml" Id="R8babd678b27243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d3f4d185f243e6" /><Relationship Type="http://schemas.openxmlformats.org/officeDocument/2006/relationships/notesMaster" Target="/ppt/notesMasters/notesMaster1.xml" Id="R3171b16d19d54b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522a5302484835" /><Relationship Type="http://schemas.openxmlformats.org/officeDocument/2006/relationships/notesMaster" Target="/ppt/notesMasters/notesMaster1.xml" Id="R70a607d1263445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5e1424aac048d8" /><Relationship Type="http://schemas.openxmlformats.org/officeDocument/2006/relationships/notesMaster" Target="/ppt/notesMasters/notesMaster1.xml" Id="R1f6460f4bfe949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d52bda8b984185" /><Relationship Type="http://schemas.openxmlformats.org/officeDocument/2006/relationships/notesMaster" Target="/ppt/notesMasters/notesMaster1.xml" Id="Ra004b2c263424f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5f02d05c774d96" /><Relationship Type="http://schemas.openxmlformats.org/officeDocument/2006/relationships/notesMaster" Target="/ppt/notesMasters/notesMaster1.xml" Id="Ra60224d83a5146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50e6e8e5bf42d5" /><Relationship Type="http://schemas.openxmlformats.org/officeDocument/2006/relationships/notesMaster" Target="/ppt/notesMasters/notesMaster1.xml" Id="R8d6514d9faea4e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51213533c14b83" /><Relationship Type="http://schemas.openxmlformats.org/officeDocument/2006/relationships/notesMaster" Target="/ppt/notesMasters/notesMaster1.xml" Id="Rf6fdf903f9d645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c693077b634112" /><Relationship Type="http://schemas.openxmlformats.org/officeDocument/2006/relationships/notesMaster" Target="/ppt/notesMasters/notesMaster1.xml" Id="R2d9ab617e1264f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f9970678e04b71" /><Relationship Type="http://schemas.openxmlformats.org/officeDocument/2006/relationships/notesMaster" Target="/ppt/notesMasters/notesMaster1.xml" Id="R3bc4b3e9c8dc49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e3a4b1d167400f" /><Relationship Type="http://schemas.openxmlformats.org/officeDocument/2006/relationships/notesMaster" Target="/ppt/notesMasters/notesMaster1.xml" Id="R75b874423c454b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30182acea042e4" /><Relationship Type="http://schemas.openxmlformats.org/officeDocument/2006/relationships/notesMaster" Target="/ppt/notesMasters/notesMaster1.xml" Id="Rbaa42620e8c84e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1b3466201f4d85" /><Relationship Type="http://schemas.openxmlformats.org/officeDocument/2006/relationships/notesMaster" Target="/ppt/notesMasters/notesMaster1.xml" Id="R69e9579e56b64e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8045c7d31a4922" /><Relationship Type="http://schemas.openxmlformats.org/officeDocument/2006/relationships/notesMaster" Target="/ppt/notesMasters/notesMaster1.xml" Id="R8de5c7b145b44f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Abertura. Apresentar a Situação de Aprendizagem 02 e a integração das duas UCs. Explicar que o material acompanha uma demonstração real.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1: quatro minutos nos slides 1 a 3. Dar um exemplo de observação e de classificação. Não inventar causas reais ou reparos. Fonte: enunciado, p. 1 e 2.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o ambiente físico da representação. O retrato do caso é estático, discreto e processado deterministicamente. MYCIN aproxima-se pela tarefa e arquitetura. Fonte curricular: aula de Fundamentos, p. 8 e 11.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2: seis minutos nos slides 4 a 6. Mostrar a transcrição da página 2. Explicar que R01 a R04 são produtos da extração, não uma tabela entregue pronta.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a leitura como insuficiência com a leitura alternativa de negação universal. Relacionar às orientações O1 a O3. Fonte: enunciado, p. 2 a 4.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erro que ocorreria se todos os sintomas fossem registrados em motor_m1: o C05 receberia corrente do C01 e vibração e ruído do C02. Mostrar a seção de fatos da base.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3: cinco minutos nos slides 7 e 8. Usar o método de seis passos e a tradução reversa da aula Construindo Expressões. Definir T,V,N,C,S,K,I antes de substituir valores.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a tabela completa do dossiê. Explicar que K e I são independentes na enumeração semântica, e por isso há quatro linhas com T,V,N verdadeiros. As três violações têm K ou I falso. Não confundir verdade vacuosa com derivação.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4: seis minutos nos slides 9 a 11. Antes da consulta, pedir a previsão do público. As hipóteses são compatíveis. A prioridade é da fonte; a preservação e ordenação são decisões de engenharia.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“duas hipóteses” não pode pular o estado de concorrência. Separar estado de classificação e estado posterior de encaminhamento. A FSM não é um diagnóstico.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editável dos sete estados mínimos. As transições normal e prioritária estão detalhadas no dossiê e no arquivo Prolog. O evento inspecao_finalizada é informado externamente. Coleta complementar retorna à triagem.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5: dez minutos nos slides 12 a 15. Mostrar o código real. Explicar cabeça, corpo e variável compartilhada. Fonte curricular: PROLOG_PARTE_1, p. 14 a 21.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as duas consultas ao vivo, só depois da predição. Distinguir informação negativa de corrente de ausência de ruído no C06. Não apresentar false como laudo negativo.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leash(-all), trace e hipotese(c04,H,R), pedindo a segunda resposta com ;. Mostrar constante com constante, variável com termo e estrutura com estrutura. Explicar desfazer os vínculos de H e R. Comparar com trace_sucesso_c04.txt.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trace_falha_c05.txt ou gerar ao vivo. Explicar que a consulta específica de sobrecarga/r01 não possui outra cabeça que possa provar o objetivo. A indexação pode evitar tentativas inúteis, sem alterar os resultados.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6: seis minutos nos slides 16 a 18. Mostrar um caso completo em cinco níveis: fonte, fórmula, Prolog, motor e estado. A matriz detalhada no dossiê contém frases e todos os fatos.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Preservar a base original e usar uma sessão para cada versão. Prever antes de consultar. Mostrar base_regra_nova.pl e base_regra_nova_teste.pl, sem misturar com o ruído da Parte A. Cinco linhas da regra de classificação e duas da trilha.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hipotese(c07,H,R) com dois pedidos ;. Relacionar cada resposta aos fatos e à origem das regras. Mostrar a frase de cada trilha e a matriz C07.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7: quatro minutos nos slides 19 e 20. O enunciado solicita três formas estudadas, mas nenhuma descreve precisamente a inversão causal. Explicar a aproximação indutiva e a distinção, sem acrescentar conhecimento de domínio.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Quatro minutos reservados para arguição ou dinâmica final. Propor remover temperatura de C04: permanece R02 e desaparece R04. Perguntar o novo estado antes de demonstrar. Sem arguição, usar o tempo para essa atividade, respeitando 40 a 50 minutos. Registros: evidencias/testes.txt e resultados.json.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b0b14666d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fabc10deba4407" /><Relationship Type="http://schemas.openxmlformats.org/officeDocument/2006/relationships/slideLayout" Target="/ppt/slideLayouts/slideLayout1.xml" Id="R1bf0e569627848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f0e569627848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3a0a9ac7e4201" /><Relationship Type="http://schemas.openxmlformats.org/officeDocument/2006/relationships/notesSlide" Target="/ppt/notesSlides/notesSlide1.xml" Id="R4b369920987547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fb6bc1eb447f1" /><Relationship Type="http://schemas.openxmlformats.org/officeDocument/2006/relationships/notesSlide" Target="/ppt/notesSlides/notesSlide2.xml" Id="R13c5acda2e3d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f885641e94d24" /><Relationship Type="http://schemas.openxmlformats.org/officeDocument/2006/relationships/notesSlide" Target="/ppt/notesSlides/notesSlide3.xml" Id="Rac5d82b637994a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37f0a4a504830" /><Relationship Type="http://schemas.openxmlformats.org/officeDocument/2006/relationships/notesSlide" Target="/ppt/notesSlides/notesSlide4.xml" Id="R30ecfc06aa7e4c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6df2a55e94a0d" /><Relationship Type="http://schemas.openxmlformats.org/officeDocument/2006/relationships/notesSlide" Target="/ppt/notesSlides/notesSlide5.xml" Id="R2da370e6eea646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ecfa301964312" /><Relationship Type="http://schemas.openxmlformats.org/officeDocument/2006/relationships/notesSlide" Target="/ppt/notesSlides/notesSlide6.xml" Id="Rc5c47bd9f6dc46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c63d1502f4deb" /><Relationship Type="http://schemas.openxmlformats.org/officeDocument/2006/relationships/notesSlide" Target="/ppt/notesSlides/notesSlide7.xml" Id="R61ef93ae31914c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61da700814ea1" /><Relationship Type="http://schemas.openxmlformats.org/officeDocument/2006/relationships/notesSlide" Target="/ppt/notesSlides/notesSlide8.xml" Id="R8ca7cd83ee2c4a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b8601fa214dd0" /><Relationship Type="http://schemas.openxmlformats.org/officeDocument/2006/relationships/notesSlide" Target="/ppt/notesSlides/notesSlide9.xml" Id="R18988a150f7040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eb6b61db5475d" /><Relationship Type="http://schemas.openxmlformats.org/officeDocument/2006/relationships/notesSlide" Target="/ppt/notesSlides/notesSlide10.xml" Id="R9e3e906d33db45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aeb4cfcb34fe0" /><Relationship Type="http://schemas.openxmlformats.org/officeDocument/2006/relationships/notesSlide" Target="/ppt/notesSlides/notesSlide11.xml" Id="Rc27d9f37f20c47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6c781dc7545aa" /><Relationship Type="http://schemas.openxmlformats.org/officeDocument/2006/relationships/notesSlide" Target="/ppt/notesSlides/notesSlide12.xml" Id="R60b87953cebb42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0bbf9823d418a" /><Relationship Type="http://schemas.openxmlformats.org/officeDocument/2006/relationships/notesSlide" Target="/ppt/notesSlides/notesSlide13.xml" Id="Rb303c52a613047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fafb62ecc4490" /><Relationship Type="http://schemas.openxmlformats.org/officeDocument/2006/relationships/notesSlide" Target="/ppt/notesSlides/notesSlide14.xml" Id="R52d5ac6e31da43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6cad5a1e74aac" /><Relationship Type="http://schemas.openxmlformats.org/officeDocument/2006/relationships/notesSlide" Target="/ppt/notesSlides/notesSlide15.xml" Id="R994321f65ed747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b58424b844356" /><Relationship Type="http://schemas.openxmlformats.org/officeDocument/2006/relationships/notesSlide" Target="/ppt/notesSlides/notesSlide16.xml" Id="R0af0db424c104a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723875e974018" /><Relationship Type="http://schemas.openxmlformats.org/officeDocument/2006/relationships/notesSlide" Target="/ppt/notesSlides/notesSlide17.xml" Id="Raf75daedc45a4a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04e52e9b24dd6" /><Relationship Type="http://schemas.openxmlformats.org/officeDocument/2006/relationships/notesSlide" Target="/ppt/notesSlides/notesSlide18.xml" Id="Ra0d66846ffe94e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e60cfc3740d3" /><Relationship Type="http://schemas.openxmlformats.org/officeDocument/2006/relationships/notesSlide" Target="/ppt/notesSlides/notesSlide19.xml" Id="Rf0336500ce8642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bbe453ddf4b41" /><Relationship Type="http://schemas.openxmlformats.org/officeDocument/2006/relationships/notesSlide" Target="/ppt/notesSlides/notesSlide20.xml" Id="R32665777fa6f44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A0BC4-8268-4455-B597-19B05C49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Projeto Manutenção Inteligente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BB7EB-3C8E-461F-9791-24C145DB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60A1A-106D-4B55-A4CD-0B316A97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Sistema especialista para triagem</a:t>
            </a:r>
          </a:p>
          <a:p xmlns:a="http://schemas.openxmlformats.org/drawingml/2006/main">
            <a:pPr>
              <a:defRPr sz="375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de manutenção industrial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06D2D-294B-48E5-BD96-AA564D34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Indústria Atlas</a:t>
            </a:r>
          </a:p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Lógica para IA e Sistemas Baseados em Conhecimento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E3428-625C-4C10-B605-A9770274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Apresentação técnica de 45 minutos</a:t>
            </a:r>
          </a:p>
        </p:txBody>
      </p:sp>
    </p:spTree>
    <p:extLst>
      <p:ext uri="{BB962C8B-B14F-4D97-AF65-F5344CB8AC3E}">
        <p14:creationId xmlns:p14="http://schemas.microsoft.com/office/powerpoint/2010/main" val="1398744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0C695-2BA3-456F-9A41-EC7A46F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Objetivo e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BACE9-973F-490B-84B3-63251AD4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Sintomas observados sustentam hipóteses iniciais e justificadas.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A47DB-923B-4F09-8984-6DFBE0FD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chamado evolui por estados explícitos até a inspeção.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01BFF-A397-4D31-9115-880A882B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As regras são pedagógicas e não constituem laudo ou procedimento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9D36E-2AFB-4A9D-9B1A-B755473F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5258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8A583-2A9E-4F42-BF59-C5F330BD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Ambiente e tarefa cognitiva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38050-CEA0-41EB-B030-337F6BE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1912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Ambiente físico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Representação do protótipo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Parcialmente observável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Somente os sintomas relatados</a:t>
                      </a:r>
                    </a:p>
                  </a:txBody>
                  <a:tcPr marL="95250" marR="95250" marT="76200" marB="76200" anchor="ctr"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Dinâmico e contínuo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Retrato estático com categorias discretas</a:t>
                      </a:r>
                    </a:p>
                  </a:txBody>
                  <a:tcPr marL="95250" marR="95250" marT="76200" marB="76200" anchor="ctr"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Causa incerta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Prova determinística de uma classificação</a:t>
                      </a:r>
                    </a:p>
                  </a:txBody>
                  <a:tcPr marL="95250" marR="95250" marT="76200" marB="76200" anchor="ctr"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Tarefa diagnóstica inicial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Referência de arquitetura: MYCIN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073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162ED-5066-4758-B585-16E2BE84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Fonte de conhecimento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66B8E-8212-498F-B096-77FC856A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R01: temperatura elevada e corrente elevada sustentam sobrecarga.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78D4C-20AD-46AD-814E-9B631C3D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R02: vibração elevada e ruído anormal sustentam hipótese mecânica.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B87F4-7205-4C68-A987-B6748890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R03: em bomba, fluxo reduzido e ruído sustentam hipótese hidráulica.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85E84-5184-4505-875F-F700AB94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R04: temperatura, vibração e ruído sustentam condição crítica e prioridade.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E78A8-1D9C-41BF-AACC-5E4B8883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25528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582A4-558A-4496-8D41-EE8768F4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Decisões de modelagem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B2CF6-879A-4C4C-8D49-F984D23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repetição reforça a conjunção de todos os sinais de cada regra.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C0E46-5D14-4D8A-868F-6AEC48DE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“Vibração sozinha” significa insuficiência de suporte para R02.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9D193-3F8F-48A2-BE98-655B4F4F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Compressor com falta de óleo fica sem regra: a fonte não o cobre.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95269-219A-461D-97E5-C9D90256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Nenhuma ausência de prova vira uma regra de negação.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D3B06-13CA-454D-88BE-CF41D660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64083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DCE15-9758-4016-9CA7-A33A33CD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Separação de ocorrências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78F7B-81F1-4756-899B-AEF0E80F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C01, C02 e C05 usam o mesmo motor, mas possuem observações distintas.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FFCAB-041F-4242-9170-C6B42B9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Cada sintoma recebe o identificador do caso, como temperatura_elevada(c01).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A46C2-BE6F-465B-AAED-8007BD66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variável Caso conecta somente fatos da mesma ocorrência.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C4527-B9DC-4680-806A-241541D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99605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1B945-2DB6-47C2-A5BF-75C5B95C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Formalização de R01 e R04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6F74E-357A-4A92-B34B-881874B5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R01: (T ∧ C) →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01D95-52A6-4B6C-9296-D9DA72F2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R04: (T ∧ V ∧ N) → (K ∧ I)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C47B8-5E12-42CB-9BE4-2C6C4041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K é a classificação crítica. I é o encaminhamento prioritário.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59C85-C2F1-4B59-A32C-38E96D1E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regra exige todos os sinais, sem provar uma causa física definitiva.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E5894-208B-4994-95C4-5238C437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127620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574BA-ACCF-406D-8151-0D42ECCD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Tabela-verdade de R04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02BE8-2FEF-417F-803F-B73F2E7E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Cinco proposições distintas produzem 32 combinações.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EDB78-3DC8-4FB0-85E6-7F1A1866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antecedente é verdadeiro em 4 linhas.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E3C3D-F4C7-47A4-ACE9-FDF113CE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implicação é verdadeira em 29 e falsa em 3 linhas.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AF90C-0400-4FE8-A9BA-0D16FED6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Antecedente falso não ativa a obrigação e não descarta a hipótese.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F8334-4ABB-410A-AA29-AD5EA771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58628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4957E-2DB3-4BC5-AA99-A49E2D0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Conjunto de conflito do C04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7258A-0E8E-4A49-81D4-D37690C3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857750"/>
                <a:gridCol w="45720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Regra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Condições provadas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Vibração e ruído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 mecânica</a:t>
                      </a:r>
                    </a:p>
                  </a:txBody>
                  <a:tcPr marL="95250" marR="95250" marT="76200" marB="76200" anchor="ctr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Temperatura, vibração e ruído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Condição crítica e prioridade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7F4CB-6F37-4702-A5A8-B7764096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As duas provas permanecem disponíveis. A condição crítica orienta a prioridade.</a:t>
            </a:r>
          </a:p>
        </p:txBody>
      </p:sp>
    </p:spTree>
    <p:extLst>
      <p:ext uri="{BB962C8B-B14F-4D97-AF65-F5344CB8AC3E}">
        <p14:creationId xmlns:p14="http://schemas.microsoft.com/office/powerpoint/2010/main" val="10545891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8F623-3776-42D6-BB2F-A7DA1772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Quantidade de regras e estado do chamado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E764-FB38-4D41-9AF2-FFC564F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Zero provas: Triagem inconclusiva.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0CBE6-198F-408F-A9BC-F97CE6AF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Uma prova: Hipótese identificada.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FD950-6189-4D4A-BBD4-0923D72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Mais de uma prova: Hipóteses concorrentes.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0DF65-AE9F-4EA8-9EB4-342047E4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encaminhamento preserva a trilha e a prioridade exigida por R04.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53C8E-DDD1-4719-837A-98737982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66231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FEB850-F97B-48F4-909F-5796F50E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Máquina de estados do chamado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60A00-C692-416D-B5B6-3155297C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E1271-109B-494D-A958-5FDD56E2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Aguardando ocorrência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4D04D-C3A2-4625-A2E5-7190E20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Em triagem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88F7A-FBCD-4468-9EF9-A0CDEB7B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Triagem inconclusiva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58436-8B2B-4E9A-8E76-D5708FB2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Hipótese identificada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10182-02FA-4CF1-8690-23A5CCFB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Hipóteses concorrentes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14CDF-20DB-46BE-A1B7-29CCF1D0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86375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Encaminhado para inspeção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E7F0A-794F-4883-A517-E1F8EC7C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86375"/>
            <a:ext cx="2333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Encerrado</a:t>
            </a:r>
          </a:p>
        </p:txBody>
      </p:sp>
      <p:cxnSp>
        <p:nvCxnSpPr>
          <p:cNvPr id="37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0478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047875" y="3095625"/>
            <a:ext cx="40481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3095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095625"/>
            <a:ext cx="39528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047875" y="4333875"/>
            <a:ext cx="414337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4333875"/>
            <a:ext cx="952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191250" y="4333875"/>
            <a:ext cx="385762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62875" y="55721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5" idx="1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90525" y="2809875"/>
            <a:ext cx="427672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63CB9-3DD0-4CF5-B19A-B1AD6E77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240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registrada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49639-4407-439F-9DD1-EBDF2ED0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 =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441A5-C592-4CD3-A59B-59951BD1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6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 =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0AE53-629F-49CC-917A-07157C92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146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 &gt;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65809-3872-45F7-B6AB-750EC7A7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0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encaminhar sem hipótese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18644-4B3E-4C53-8F80-E2DA27F2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100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encaminhar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05888-89BE-4269-8716-AD3688C0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aplicar critério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0BD2B-606B-4CA8-A571-87C3CA12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57750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inspeção</a:t>
            </a:r>
          </a:p>
          <a:p xmlns:a="http://schemas.openxmlformats.org/drawingml/2006/main">
            <a:pPr>
              <a:defRPr sz="157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finalizada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2704DF-FD37-47D8-B1CB-165F3E58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Coleta complementar retorna à triagem. Inicial: Aguardando ocorrência. Final: Encerrado.</a:t>
            </a:r>
          </a:p>
        </p:txBody>
      </p:sp>
    </p:spTree>
    <p:extLst>
      <p:ext uri="{BB962C8B-B14F-4D97-AF65-F5344CB8AC3E}">
        <p14:creationId xmlns:p14="http://schemas.microsoft.com/office/powerpoint/2010/main" val="7852830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C56D4-1636-471A-8B77-3110B918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Base declarativa em Prolog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EB0EC-1D1E-4D65-96F9-9921866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hipotese(Caso, sobrecarga, r01) :-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B26F2-6EBA-428D-9512-D8F90E0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    temperatura_elevada(Caso),</a:t>
            </a:r>
          </a:p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    corrente_elevada(Caso).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1626A-8124-4EE4-86B3-894ECFE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Fatos descrevem sintomas. A regra produz a hipótese.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2F8DD-3934-41A5-9F63-903F598A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A base não usa listas, recursão, corte ou negação.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1DA29-86D4-4AF5-9B7F-57984B97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49464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73E44-8A62-418F-B6A5-9FBD1950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Consultas de sucesso e falha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009AB-F9FD-4269-A7E0-1856D2C1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hipotese(c01, sobrecarga, r01).     Resultado previsto: 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8C09E-36AC-469A-B933-E53DE4EC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hipotese(c05, sobrecarga, r01).     Resultado previsto: false.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7D9D3-C324-4D5F-9B9C-6136DE80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C01 tem os dois sintomas. C05 informa corrente não elevada.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88D4E-2C97-44D0-9152-0B191DCD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false significa que a base não forneceu uma prova.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35B10-B40C-4C26-B040-F40D5EFC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206732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79C9C-E384-4EEA-BD52-E2AA3AEF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Trace e unificação no C04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A0DCD-FAC2-4F9F-801C-202DDBB3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R01: temperatura sucede e corrente falha.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CCA5A-5D33-4543-9420-550BFCC3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R02: vibração e ruído sucedem. Primeira resposta.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8640A-781B-4017-BB29-B1F2A7A3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pedido ; retoma a busca. R03 falha no tipo bomba.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74443-0551-477A-BAB2-957AB2BE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R04 sucede. Segunda resposta: condição crítica.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BF394-4E7A-4D0A-BE60-3568A4E4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000880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F87A3-96D5-4BB5-B146-8AA6955A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Portas do trace e busca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4910B-10A3-483C-A30D-568E7D22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Call: tentativa de um objetivo. Exit: prova encontrada.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A9D61-12D4-4C80-8CBA-D55F3BD4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Fail: tentativa sem prova. Redo: retomada para alternativa.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CFF5F-B56C-4D85-84EC-B51D80B9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Cláusulas de cima para baixo, objetivos da esquerda para a direita.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6B7D4-66E1-4DE1-A6ED-589467C2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C05 específico não mostra Redo. C04 demonstra as quatro portas.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90856-7689-41F6-AAA3-6F35636F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87676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9C278-099A-4B33-B374-C103485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Validação cruzada dos seis casos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CF6B1-042F-467B-97FA-F673EC7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952750"/>
                <a:gridCol w="6477000"/>
              </a:tblGrid>
              <a:tr h="59871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Caso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Regras provadas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Estado após a triagem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 identificada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 identificada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 identificada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R02 e R04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Hipóteses concorrentes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Nenhuma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Triagem inconclusiva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C06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Nenhuma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Triagem inconclusiva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099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CC195-F43C-4873-A43A-0E4424D3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Evoluções independentes da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0D403-96ED-4A21-98F3-C61548AB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Parte A: ruído acrescentado a C06 permite provar R03.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53856-86F8-4D08-AF5D-B21AB62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Parte B: R05 exige bomba, fluxo reduzido e corrente elevada.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F8771-164B-4318-80C3-1E98FE8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Só acrescentar R05 não muda C06 sem corrente informada.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74C73-F945-4555-9586-0FA765CF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Na entrada positiva da Parte B, C06 sustenta obstrução por R05.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24762-AC97-4130-BDC8-AFFE5801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320863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2CD2E-CBF1-490C-9810-C387489A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Novo caso C07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8E2B1-1E99-44C9-BD39-1097C6E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Bomba B1 com temperatura, vibração, ruído e fluxo reduzido.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722FD-B217-438E-B9C7-20D173D3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Previsão: R02, R03 e R04. A corrente não foi informada.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C632A-863C-4770-A943-CAC413C2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consulta retorna três hipóteses, com dois pedidos de próxima solução.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70BC9-EEC1-4790-ACC9-468AE1C4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Hipóteses concorrentes e encaminhamento para inspeção prioritária.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78E2B-B44C-4931-9248-A70EEEC8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099847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88CD3-2D44-4C9E-9B23-1E300980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Raciocínio e limites da 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4E6C3-9EDD-460E-A2F1-BB0C428B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Efeito observado para causa possível é inferência abdutiva.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FD1D1-1615-4916-9397-2B3121BE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Indução pode construir associações. A transcrição não descreve essa aquisição.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80758-D465-40C0-95A5-45A43E51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motor deduz a classificação usando fatos e regras já declarados.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3FAE0-FEF8-4764-A15C-7F968E40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Mundo fechado: ausência de prova não demonstra ausência da causa.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67FBD-4CEB-4BD4-B81D-28BF5FFE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704004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BF6EA-7041-4799-BE98-4974DCD1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Resultados e demonstração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D553F-F807-4A8E-BE73-D95322A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298 verificações aprovadas com SWI-Prolog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CDFDB-B19B-4DC5-9D33-FB5B9180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Sete casos, evoluções, 256 provas de antecedentes e onze transições.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DE3E7-6DCE-4D4C-B129-0A098F11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Cada hipótese mantém sua regra e os sintomas que a sustentam.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0B3C2-CB34-4C3D-A57D-17451A2D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Uma mudança de fato exige nova previsão antes da consulta.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8D8AC-B0E2-4CF3-9F6A-4194FC5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369295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2026-10-01T22:21:11.6200000Z</dcterms:created>
  <dcterms:modified xsi:type="dcterms:W3CDTF">2026-10-01T22:21:11.6200000Z</dcterms:modified>
</coreProperties>
</file>