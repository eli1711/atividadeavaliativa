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fb55f0b894be0" /><Relationship Type="http://schemas.openxmlformats.org/officeDocument/2006/relationships/extended-properties" Target="/docProps/app.xml" Id="R92bb87170fb54e22" /><Relationship Type="http://schemas.openxmlformats.org/officeDocument/2006/relationships/officeDocument" Target="/ppt/presentation.xml" Id="R94e305af7ceb4e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cc9a9ff908446c"/>
  </p:sldMasterIdLst>
  <p:notesMasterIdLst>
    <p:notesMasterId xmlns:r="http://schemas.openxmlformats.org/officeDocument/2006/relationships" r:id="R1b6e7afb594a4aed"/>
  </p:notesMasterIdLst>
  <p:sldIdLst>
    <p:sldId xmlns:r="http://schemas.openxmlformats.org/officeDocument/2006/relationships" id="256" r:id="Rfe5fbd4382cc4491"/>
    <p:sldId xmlns:r="http://schemas.openxmlformats.org/officeDocument/2006/relationships" id="257" r:id="Rda8a2dce94304ee2"/>
    <p:sldId xmlns:r="http://schemas.openxmlformats.org/officeDocument/2006/relationships" id="258" r:id="Rf51456d077b54616"/>
    <p:sldId xmlns:r="http://schemas.openxmlformats.org/officeDocument/2006/relationships" id="259" r:id="Rbfd3b6693b2c4b8a"/>
    <p:sldId xmlns:r="http://schemas.openxmlformats.org/officeDocument/2006/relationships" id="260" r:id="R1db9a8159dba4d4d"/>
    <p:sldId xmlns:r="http://schemas.openxmlformats.org/officeDocument/2006/relationships" id="261" r:id="Rc0ba4d093be4419f"/>
    <p:sldId xmlns:r="http://schemas.openxmlformats.org/officeDocument/2006/relationships" id="262" r:id="R64d7dec97aeb4c45"/>
    <p:sldId xmlns:r="http://schemas.openxmlformats.org/officeDocument/2006/relationships" id="263" r:id="R5b7f30c9b1484d96"/>
    <p:sldId xmlns:r="http://schemas.openxmlformats.org/officeDocument/2006/relationships" id="264" r:id="R74852e4c7357423b"/>
    <p:sldId xmlns:r="http://schemas.openxmlformats.org/officeDocument/2006/relationships" id="265" r:id="R1c18565109114598"/>
    <p:sldId xmlns:r="http://schemas.openxmlformats.org/officeDocument/2006/relationships" id="266" r:id="R2f69b9874d8c4136"/>
    <p:sldId xmlns:r="http://schemas.openxmlformats.org/officeDocument/2006/relationships" id="267" r:id="R9f9f7937e3b64291"/>
    <p:sldId xmlns:r="http://schemas.openxmlformats.org/officeDocument/2006/relationships" id="268" r:id="R748bd291f56d49ec"/>
    <p:sldId xmlns:r="http://schemas.openxmlformats.org/officeDocument/2006/relationships" id="269" r:id="Rf79c2dfd5ef84ef5"/>
    <p:sldId xmlns:r="http://schemas.openxmlformats.org/officeDocument/2006/relationships" id="270" r:id="Rdc7ab106e5af4f8e"/>
    <p:sldId xmlns:r="http://schemas.openxmlformats.org/officeDocument/2006/relationships" id="271" r:id="R2d740800090c4e28"/>
    <p:sldId xmlns:r="http://schemas.openxmlformats.org/officeDocument/2006/relationships" id="272" r:id="Rc00b3f76be8541b3"/>
    <p:sldId xmlns:r="http://schemas.openxmlformats.org/officeDocument/2006/relationships" id="273" r:id="R6c3b79afe4b94d31"/>
    <p:sldId xmlns:r="http://schemas.openxmlformats.org/officeDocument/2006/relationships" id="274" r:id="Ra6f8769ca6834c6f"/>
    <p:sldId xmlns:r="http://schemas.openxmlformats.org/officeDocument/2006/relationships" id="275" r:id="Ra621b3168bab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12a0ebdad4176" /><Relationship Type="http://schemas.openxmlformats.org/officeDocument/2006/relationships/slideMaster" Target="/ppt/slideMasters/slideMaster1.xml" Id="R87cc9a9ff908446c" /><Relationship Type="http://schemas.openxmlformats.org/officeDocument/2006/relationships/notesMaster" Target="/ppt/notesMasters/notesMaster1.xml" Id="R1b6e7afb594a4aed" /><Relationship Type="http://schemas.openxmlformats.org/officeDocument/2006/relationships/presProps" Target="/ppt/presProps.xml" Id="Red0892cea69a4804" /><Relationship Type="http://schemas.openxmlformats.org/officeDocument/2006/relationships/tableStyles" Target="/ppt/tableStyles.xml" Id="R714e56f5e24f4fd3" /><Relationship Type="http://schemas.openxmlformats.org/officeDocument/2006/relationships/slide" Target="/ppt/slides/slide1.xml" Id="Rfe5fbd4382cc4491" /><Relationship Type="http://schemas.openxmlformats.org/officeDocument/2006/relationships/slide" Target="/ppt/slides/slide2.xml" Id="Rda8a2dce94304ee2" /><Relationship Type="http://schemas.openxmlformats.org/officeDocument/2006/relationships/slide" Target="/ppt/slides/slide3.xml" Id="Rf51456d077b54616" /><Relationship Type="http://schemas.openxmlformats.org/officeDocument/2006/relationships/slide" Target="/ppt/slides/slide4.xml" Id="Rbfd3b6693b2c4b8a" /><Relationship Type="http://schemas.openxmlformats.org/officeDocument/2006/relationships/slide" Target="/ppt/slides/slide5.xml" Id="R1db9a8159dba4d4d" /><Relationship Type="http://schemas.openxmlformats.org/officeDocument/2006/relationships/slide" Target="/ppt/slides/slide6.xml" Id="Rc0ba4d093be4419f" /><Relationship Type="http://schemas.openxmlformats.org/officeDocument/2006/relationships/slide" Target="/ppt/slides/slide7.xml" Id="R64d7dec97aeb4c45" /><Relationship Type="http://schemas.openxmlformats.org/officeDocument/2006/relationships/slide" Target="/ppt/slides/slide8.xml" Id="R5b7f30c9b1484d96" /><Relationship Type="http://schemas.openxmlformats.org/officeDocument/2006/relationships/slide" Target="/ppt/slides/slide9.xml" Id="R74852e4c7357423b" /><Relationship Type="http://schemas.openxmlformats.org/officeDocument/2006/relationships/slide" Target="/ppt/slides/slide10.xml" Id="R1c18565109114598" /><Relationship Type="http://schemas.openxmlformats.org/officeDocument/2006/relationships/slide" Target="/ppt/slides/slide11.xml" Id="R2f69b9874d8c4136" /><Relationship Type="http://schemas.openxmlformats.org/officeDocument/2006/relationships/slide" Target="/ppt/slides/slide12.xml" Id="R9f9f7937e3b64291" /><Relationship Type="http://schemas.openxmlformats.org/officeDocument/2006/relationships/slide" Target="/ppt/slides/slide13.xml" Id="R748bd291f56d49ec" /><Relationship Type="http://schemas.openxmlformats.org/officeDocument/2006/relationships/slide" Target="/ppt/slides/slide14.xml" Id="Rf79c2dfd5ef84ef5" /><Relationship Type="http://schemas.openxmlformats.org/officeDocument/2006/relationships/slide" Target="/ppt/slides/slide15.xml" Id="Rdc7ab106e5af4f8e" /><Relationship Type="http://schemas.openxmlformats.org/officeDocument/2006/relationships/slide" Target="/ppt/slides/slide16.xml" Id="R2d740800090c4e28" /><Relationship Type="http://schemas.openxmlformats.org/officeDocument/2006/relationships/slide" Target="/ppt/slides/slide17.xml" Id="Rc00b3f76be8541b3" /><Relationship Type="http://schemas.openxmlformats.org/officeDocument/2006/relationships/slide" Target="/ppt/slides/slide18.xml" Id="R6c3b79afe4b94d31" /><Relationship Type="http://schemas.openxmlformats.org/officeDocument/2006/relationships/slide" Target="/ppt/slides/slide19.xml" Id="Ra6f8769ca6834c6f" /><Relationship Type="http://schemas.openxmlformats.org/officeDocument/2006/relationships/slide" Target="/ppt/slides/slide20.xml" Id="Ra621b3168bab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cb6383fe5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fdd9801684b9a" /><Relationship Type="http://schemas.openxmlformats.org/officeDocument/2006/relationships/notesMaster" Target="/ppt/notesMasters/notesMaster1.xml" Id="Red8ae43cf6f9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ec09b457b4d50" /><Relationship Type="http://schemas.openxmlformats.org/officeDocument/2006/relationships/notesMaster" Target="/ppt/notesMasters/notesMaster1.xml" Id="Rf600b22221f54e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0f2f7b1e74178" /><Relationship Type="http://schemas.openxmlformats.org/officeDocument/2006/relationships/notesMaster" Target="/ppt/notesMasters/notesMaster1.xml" Id="Rb984c2c7f352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1076aa81143d1" /><Relationship Type="http://schemas.openxmlformats.org/officeDocument/2006/relationships/notesMaster" Target="/ppt/notesMasters/notesMaster1.xml" Id="Re7f96b0cc74e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1baa9c4144021" /><Relationship Type="http://schemas.openxmlformats.org/officeDocument/2006/relationships/notesMaster" Target="/ppt/notesMasters/notesMaster1.xml" Id="R5756049ab4c9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ac798142dc470e" /><Relationship Type="http://schemas.openxmlformats.org/officeDocument/2006/relationships/notesMaster" Target="/ppt/notesMasters/notesMaster1.xml" Id="R76aa81b31cdd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acf948bd744027" /><Relationship Type="http://schemas.openxmlformats.org/officeDocument/2006/relationships/notesMaster" Target="/ppt/notesMasters/notesMaster1.xml" Id="Ra08874e377794f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749fe5aba4eb0" /><Relationship Type="http://schemas.openxmlformats.org/officeDocument/2006/relationships/notesMaster" Target="/ppt/notesMasters/notesMaster1.xml" Id="Rf5f8de89c3c041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e9188969c4d26" /><Relationship Type="http://schemas.openxmlformats.org/officeDocument/2006/relationships/notesMaster" Target="/ppt/notesMasters/notesMaster1.xml" Id="Rd94eb4fae90d46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c480b26bfa41a0" /><Relationship Type="http://schemas.openxmlformats.org/officeDocument/2006/relationships/notesMaster" Target="/ppt/notesMasters/notesMaster1.xml" Id="R612250dfa9a0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2f382a415a4807" /><Relationship Type="http://schemas.openxmlformats.org/officeDocument/2006/relationships/notesMaster" Target="/ppt/notesMasters/notesMaster1.xml" Id="R3d8e8ac4667e4e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48f2bdf4a44d58" /><Relationship Type="http://schemas.openxmlformats.org/officeDocument/2006/relationships/notesMaster" Target="/ppt/notesMasters/notesMaster1.xml" Id="R19a53658294348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92f38ff9fd45f2" /><Relationship Type="http://schemas.openxmlformats.org/officeDocument/2006/relationships/notesMaster" Target="/ppt/notesMasters/notesMaster1.xml" Id="R5b330adc595440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40020af6a6420e" /><Relationship Type="http://schemas.openxmlformats.org/officeDocument/2006/relationships/notesMaster" Target="/ppt/notesMasters/notesMaster1.xml" Id="Rc98f13d3bc9349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f97bbd0ade47ce" /><Relationship Type="http://schemas.openxmlformats.org/officeDocument/2006/relationships/notesMaster" Target="/ppt/notesMasters/notesMaster1.xml" Id="R95b8fb24101a46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d68519d9d64b2a" /><Relationship Type="http://schemas.openxmlformats.org/officeDocument/2006/relationships/notesMaster" Target="/ppt/notesMasters/notesMaster1.xml" Id="R06e4078aea8740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e2074242434174" /><Relationship Type="http://schemas.openxmlformats.org/officeDocument/2006/relationships/notesMaster" Target="/ppt/notesMasters/notesMaster1.xml" Id="R11308a0da1284c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2f81b50c254ef4" /><Relationship Type="http://schemas.openxmlformats.org/officeDocument/2006/relationships/notesMaster" Target="/ppt/notesMasters/notesMaster1.xml" Id="R98377d3134734f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fbb99d9137412f" /><Relationship Type="http://schemas.openxmlformats.org/officeDocument/2006/relationships/notesMaster" Target="/ppt/notesMasters/notesMaster1.xml" Id="Rb571cb68e8b64d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99a52aaf474ae9" /><Relationship Type="http://schemas.openxmlformats.org/officeDocument/2006/relationships/notesMaster" Target="/ppt/notesMasters/notesMaster1.xml" Id="R7c62e5ecdccf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Abertura. Apresentar a Situação de Aprendizagem 02 e a integração das duas UCs. Explicar que o material acompanha uma demonstração real.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1: quatro minutos nos slides 1 a 3. Dar um exemplo de observação e de classificação. Não inventar causas reais ou reparos. Fonte: enunciado, p. 1 e 2.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o ambiente físico da representação. O retrato do caso é estático, discreto e processado deterministicamente. MYCIN aproxima-se pela tarefa e arquitetura. Fonte curricular: aula de Fundamentos, p. 8 e 11.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2: seis minutos nos slides 4 a 6. Mostrar a transcrição da página 2. Explicar que R01 a R04 são produtos da extração, não uma tabela entregue pronta.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a leitura como insuficiência com a leitura alternativa de negação universal. Relacionar às orientações O1 a O3. Fonte: enunciado, p. 2 a 4.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erro que ocorreria se todos os sintomas fossem registrados em motor_m1: o C05 receberia corrente do C01 e vibração e ruído do C02. Mostrar a seção de fatos da base.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3: cinco minutos nos slides 7 e 8. Usar o método de seis passos e a tradução reversa da aula Construindo Expressões. Definir T,V,N,C,S,K,I antes de substituir valores.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 tabela completa do dossiê. Explicar que K e I são independentes na enumeração semântica, e por isso há quatro linhas com T,V,N verdadeiros. As três violações têm K ou I falso. Não confundir verdade vacuosa com derivação.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4: seis minutos nos slides 9 a 11. Antes da consulta, pedir a previsão do público. As hipóteses são compatíveis. A prioridade é da fonte; a preservação e ordenação são decisões de engenharia.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“duas hipóteses” não pode pular o estado de concorrência. Separar estado de classificação e estado posterior de encaminhamento. A FSM não é um diagnóstico.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editável dos sete estados mínimos. As transições normal e prioritária estão detalhadas no dossiê e no arquivo Prolog. O evento inspecao_finalizada é informado externamente. Coleta complementar retorna à triagem.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5: dez minutos nos slides 12 a 15. Mostrar o código real. Explicar cabeça, corpo e variável compartilhada. Fonte curricular: PROLOG_PARTE_1, p. 14 a 21.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as duas consultas ao vivo, só depois da predição. Distinguir informação negativa de corrente de ausência de ruído no C06. Não apresentar false como laudo negativo.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leash(-all), trace e hipotese(c04,H,R), pedindo a segunda resposta com ;. Mostrar constante com constante, variável com termo e estrutura com estrutura. Explicar desfazer os vínculos de H e R. Comparar com trace_sucesso_c04.txt.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trace_falha_c05.txt ou gerar ao vivo. Explicar que a consulta específica de sobrecarga/r01 não possui outra cabeça que possa provar o objetivo. A indexação pode evitar tentativas inúteis, sem alterar os resultados.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6: seis minutos nos slides 16 a 18. Mostrar um caso completo em cinco níveis: fonte, fórmula, Prolog, motor e estado. A matriz detalhada no dossiê contém frases e todos os fatos.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Preservar a base original e usar uma sessão para cada versão. Prever antes de consultar. Mostrar base_regra_nova.pl e base_regra_nova_teste.pl, sem misturar com o ruído da Parte A. Cinco linhas da regra de classificação e duas da trilha.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hipotese(c07,H,R) com dois pedidos ;. Relacionar cada resposta aos fatos e à origem das regras. Mostrar a frase de cada trilha e a matriz C07.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Bloco 7: quatro minutos nos slides 19 e 20. O enunciado solicita três formas estudadas, mas nenhuma descreve precisamente a inversão causal. Explicar a aproximação indutiva e a distinção, sem acrescentar conhecimento de domínio.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minutos reservados para arguição ou dinâmica final. Propor remover temperatura de C04: permanece R02 e desaparece R04. Perguntar o novo estado antes de demonstrar. Sem arguição, usar o tempo para essa atividade, respeitando 40 a 50 minutos. Registros: evidencias/testes.txt e resultados.json.</a:t>
            </a:r>
          </a:p>
          <a:p xmlns:a="http://schemas.openxmlformats.org/drawingml/2006/main">
            <a:r>
              <a:t>Fontes: AtividadeAvaliativa].pdf e regras.docx. Consulte Dossie.md para a validação e evidências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244a7137445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d8f736cba4579" /><Relationship Type="http://schemas.openxmlformats.org/officeDocument/2006/relationships/slideLayout" Target="/ppt/slideLayouts/slideLayout1.xml" Id="Rf670a3692016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0a3692016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f46767a54439d" /><Relationship Type="http://schemas.openxmlformats.org/officeDocument/2006/relationships/notesSlide" Target="/ppt/notesSlides/notesSlide1.xml" Id="R80b605feec0640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a04c4d2624895" /><Relationship Type="http://schemas.openxmlformats.org/officeDocument/2006/relationships/notesSlide" Target="/ppt/notesSlides/notesSlide2.xml" Id="Rb8c0283820b1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50eeafed495f" /><Relationship Type="http://schemas.openxmlformats.org/officeDocument/2006/relationships/notesSlide" Target="/ppt/notesSlides/notesSlide3.xml" Id="R5bb4c43861a14f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365d6a4774089" /><Relationship Type="http://schemas.openxmlformats.org/officeDocument/2006/relationships/notesSlide" Target="/ppt/notesSlides/notesSlide4.xml" Id="Re9e4385b9466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b2d60f9c1446b" /><Relationship Type="http://schemas.openxmlformats.org/officeDocument/2006/relationships/notesSlide" Target="/ppt/notesSlides/notesSlide5.xml" Id="Rbcbb33dd663a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a51c8d6474920" /><Relationship Type="http://schemas.openxmlformats.org/officeDocument/2006/relationships/notesSlide" Target="/ppt/notesSlides/notesSlide6.xml" Id="R395a5aa04456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4079baf9440dc" /><Relationship Type="http://schemas.openxmlformats.org/officeDocument/2006/relationships/notesSlide" Target="/ppt/notesSlides/notesSlide7.xml" Id="R3a6c49ebaffc41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ebb3514b943b9" /><Relationship Type="http://schemas.openxmlformats.org/officeDocument/2006/relationships/notesSlide" Target="/ppt/notesSlides/notesSlide8.xml" Id="R3f08abdd4ab0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9e8bbdef349cf" /><Relationship Type="http://schemas.openxmlformats.org/officeDocument/2006/relationships/notesSlide" Target="/ppt/notesSlides/notesSlide9.xml" Id="R052162e4f2644b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a754437674834" /><Relationship Type="http://schemas.openxmlformats.org/officeDocument/2006/relationships/notesSlide" Target="/ppt/notesSlides/notesSlide10.xml" Id="R9d45b85399f945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1f3b060e4425b" /><Relationship Type="http://schemas.openxmlformats.org/officeDocument/2006/relationships/notesSlide" Target="/ppt/notesSlides/notesSlide11.xml" Id="Rab640754ca3f40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002cedc8e440f" /><Relationship Type="http://schemas.openxmlformats.org/officeDocument/2006/relationships/notesSlide" Target="/ppt/notesSlides/notesSlide12.xml" Id="Rf96c115bbaef48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f7ab686a34936" /><Relationship Type="http://schemas.openxmlformats.org/officeDocument/2006/relationships/notesSlide" Target="/ppt/notesSlides/notesSlide13.xml" Id="R2f7b3a579cf9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e47585fe24b4f" /><Relationship Type="http://schemas.openxmlformats.org/officeDocument/2006/relationships/notesSlide" Target="/ppt/notesSlides/notesSlide14.xml" Id="R5bdba34a65194c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4eebb4a35406a" /><Relationship Type="http://schemas.openxmlformats.org/officeDocument/2006/relationships/notesSlide" Target="/ppt/notesSlides/notesSlide15.xml" Id="Rdac9e1dc019f40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2376d7c254be1" /><Relationship Type="http://schemas.openxmlformats.org/officeDocument/2006/relationships/notesSlide" Target="/ppt/notesSlides/notesSlide16.xml" Id="R7d44d201bd1d44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4f5fffef444e3" /><Relationship Type="http://schemas.openxmlformats.org/officeDocument/2006/relationships/notesSlide" Target="/ppt/notesSlides/notesSlide17.xml" Id="Reec06d50173042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e18c39f0040ab" /><Relationship Type="http://schemas.openxmlformats.org/officeDocument/2006/relationships/notesSlide" Target="/ppt/notesSlides/notesSlide18.xml" Id="Rb8d40966571843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abecb470a4f7f" /><Relationship Type="http://schemas.openxmlformats.org/officeDocument/2006/relationships/notesSlide" Target="/ppt/notesSlides/notesSlide19.xml" Id="R9392ad187a394b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5fbfe7a7d4a83" /><Relationship Type="http://schemas.openxmlformats.org/officeDocument/2006/relationships/notesSlide" Target="/ppt/notesSlides/notesSlide20.xml" Id="R1fae4e04663b43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801CC-32F5-4EC4-92C5-6654B8E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Projeto Manutenção Inteligente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E5E8E-D493-4E56-8C33-5205525A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5BD93-901A-4097-BC7D-FEC721D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Sistema especialista para triagem</a:t>
            </a:r>
          </a:p>
          <a:p xmlns:a="http://schemas.openxmlformats.org/drawingml/2006/main">
            <a:pPr>
              <a:defRPr sz="375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de manutenção industrial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0C880-98F9-4A76-9566-AAD7379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Indústria Atlas</a:t>
            </a:r>
          </a:p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Lógica para IA e Sistemas Baseados em Conhecimento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8B6DF-95C4-4561-8961-50F87DFA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Apresentação técnica de 45 minutos</a:t>
            </a:r>
          </a:p>
        </p:txBody>
      </p:sp>
    </p:spTree>
    <p:extLst>
      <p:ext uri="{BB962C8B-B14F-4D97-AF65-F5344CB8AC3E}">
        <p14:creationId xmlns:p14="http://schemas.microsoft.com/office/powerpoint/2010/main" val="1339865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29195-0182-402D-92BE-01826F12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Objetivo e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D4F44-80CF-424A-B0F8-D2468F2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Sintomas observados sustentam hipóteses iniciais e justificadas.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4D58F-1EC3-4348-BCB8-48613B45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chamado evolui por estados explícitos até a inspeção.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05D2C-6658-4935-A342-87BCD13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As regras são pedagógicas e não constituem laudo ou procedimento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CA297-0E5E-4E39-B85B-92E15E8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629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C8E96-896A-415D-BACC-01351D34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Ambiente e tarefa cognitiva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D9A03-17D3-4C49-8F4C-E947A037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Ambiente físico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Representação do protótipo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Parcialmente observável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Somente os sintomas relatados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Dinâmico e contínuo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Retrato estático com categorias discretas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Causa incerta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Prova determinística de uma classificação</a:t>
                      </a:r>
                    </a:p>
                  </a:txBody>
                  <a:tcPr marL="95250" marR="95250" marT="76200" marB="76200" anchor="ctr"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Tarefa diagnóstica inicial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Referência de arquitetura: MYCIN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482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505D3-3F1A-469B-813A-A470FD2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Fonte de conhecimento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F2EA-E28D-4A13-81BC-18EA0FD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temperatura elevada e corrente elevada sustentam sobrecarga.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B5DF-F1E5-44E7-BE5C-2939ECAF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R02: vibração elevada e ruído anormal sustentam hipótese mecânica.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112AC-900B-4343-B2EC-B6A3D29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R03: em bomba, fluxo reduzido e ruído sustentam hipótese hidráulica.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A910D-DE8C-4C9C-9655-1118093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R04: temperatura, vibração e ruído sustentam condição crítica e prioridade.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757C-A1CB-426A-BFAA-AF0FC729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5639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23FD-95C6-438E-9250-21CC1D6E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Decisões de 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498AA-335C-4C50-8861-883AFCD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repetição reforça a conjunção de todos os sinais de cada regra.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27627-F686-42A9-B2A3-43BAC3C0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“Vibração sozinha” significa insuficiência de suporte para R02.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5F0E5-7F16-41FB-9F1F-6E0E56E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Compressor com falta de óleo fica sem regra: a fonte não o cobre.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0E545-88EA-4C45-A3DB-CDD27D27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Nenhuma ausência de prova vira uma regra de negação.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02DB0-95E3-4541-802E-0C38891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6193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720FE-04BC-42D5-ADFA-A4B98B4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Separação de ocorrências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2F91A-CD2A-4CA7-8C76-44A4E633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C01, C02 e C05 usam o mesmo motor, mas possuem observações distintas.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FE79-E7E5-4C67-9AA6-B9948C89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Cada sintoma recebe o identificador do caso, como temperatura_elevada(c01).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DC3C1-A982-4671-9F5E-55266B0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variável Caso conecta somente fatos da mesma ocorrência.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38658-B6DE-4359-96C3-4F24A8E7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2335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229ED-9516-46AE-8547-7319A9E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Formalização de R01 e R04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008BA-70DC-458A-983C-D37FA37A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(T ∧ C) →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433C6-8B10-46AB-A89A-B5F94F20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R04: (T ∧ V ∧ N) → (K ∧ I)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089D6-D9D9-4639-9A9F-3E5BC1C1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K é a classificação crítica. I é o encaminhamento prioritário.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07316-3E7C-457D-846A-3C4A0DE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regra exige todos os sinais, sem provar uma causa física definitiva.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16DA9-A29D-4323-9F3E-20A8D2C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76244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757C-E6A1-499D-BBD4-EFAAA92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Tabela-verdade de R04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7148D-EE89-43DF-B873-1AA475E4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Cinco proposições distintas produzem 32 combinações.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12C54-7C84-40E5-A229-A96B3CB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antecedente é verdadeiro em 4 linhas.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EF7FD-78EB-4F8A-9A78-64339CC6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implicação é verdadeira em 29 e falsa em 3 linhas.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1B768-4D48-4934-91A1-EC93DCB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Antecedente falso não ativa a obrigação e não descarta a hipótese.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0D87D-986C-450F-9179-BA7C3E22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56155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D6DD-8780-4714-AE1C-EC4CE6F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Conjunto de conflito do C04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179FD-2C3C-45E8-A0AD-42624DE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857750"/>
                <a:gridCol w="45720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Regra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Condições provadas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Vibração e ruído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mecânica</a:t>
                      </a:r>
                    </a:p>
                  </a:txBody>
                  <a:tcPr marL="95250" marR="95250" marT="76200" marB="76200" anchor="ctr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Temperatura, vibração e ruído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Condição crítica e prioridade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DA06B-4FA8-4594-8555-A3186E2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As duas provas permanecem disponíveis. A condição crítica orienta a prioridade.</a:t>
            </a:r>
          </a:p>
        </p:txBody>
      </p:sp>
    </p:spTree>
    <p:extLst>
      <p:ext uri="{BB962C8B-B14F-4D97-AF65-F5344CB8AC3E}">
        <p14:creationId xmlns:p14="http://schemas.microsoft.com/office/powerpoint/2010/main" val="1915897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7DCC5-640E-4E67-BEEA-5633AAF2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Quantidade de regras e estado do chamado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C09EA-4ED3-4DE4-9F9E-A0502958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Zero provas: Triagem inconclusiva.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D2839-FFD3-45B9-8ABD-D35971C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Uma prova: Hipótese identificada.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AF5F2-11C7-445E-A2F7-BD06A14D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Mais de uma prova: Hipóteses concorrentes.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50214-BD27-4CDD-864A-9D3921F4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encaminhamento preserva a trilha e a prioridade exigida por R04.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7B722-A5EE-49EE-94DB-98575DB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4825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AC609-E547-4352-9EE3-3E40ECA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Máquina de estados do chamado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7009F-2520-42CF-9F8B-2374064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FCF7-8905-444B-82C2-8100128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Aguardando ocorrência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0899E-2209-4859-AE98-13BAE074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Em triagem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406B4-E94A-434E-9B61-70D17C27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Triagem inconclusiva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91CF-1A5B-4D02-A8ED-1C408EE7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 identificada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49875-A1DA-47A8-A683-56BF3B5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Hipóteses concorrentes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42DC7-C070-404B-90A8-4F300699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Encaminhado para inspeção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53DC7-1BCE-4A70-B18C-05CC7BA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86375"/>
            <a:ext cx="2333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31465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E43"/>
                </a:solidFill>
                <a:latin typeface="Arial"/>
                <a:ea typeface="Arial"/>
                <a:cs typeface="Arial"/>
              </a:rPr>
              <a:t>Encerrado</a:t>
            </a:r>
          </a:p>
        </p:txBody>
      </p:sp>
      <p:cxnSp>
        <p:nvCxnSpPr>
          <p:cNvPr id="37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0478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47875" y="3095625"/>
            <a:ext cx="40481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3095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95625"/>
            <a:ext cx="39528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47875" y="4333875"/>
            <a:ext cx="4143375" cy="952500"/>
          </a:xfrm>
          <a:prstGeom xmlns:a="http://schemas.openxmlformats.org/drawingml/2006/main" prst="bentConnector4">
            <a:avLst>
              <a:gd name="adj1" fmla="val 0"/>
              <a:gd name="adj2" fmla="val 76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4333875"/>
            <a:ext cx="95250" cy="952500"/>
          </a:xfrm>
          <a:prstGeom xmlns:a="http://schemas.openxmlformats.org/drawingml/2006/main" prst="bentConnector4">
            <a:avLst>
              <a:gd name="adj1" fmla="val 0"/>
              <a:gd name="adj2" fmla="val 76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191250" y="4333875"/>
            <a:ext cx="38576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62875" y="55721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5" idx="1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90525" y="2809875"/>
            <a:ext cx="427672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1465A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2471D-B4E2-41FD-8ED6-05144201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240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registrada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0DB3E-DA55-4657-B283-248DEF0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90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=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9BED3-6917-4EDA-98AE-CBB06B9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=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98423-7541-4FE9-9C15-F5E8D7E6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146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 &gt;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B64D1-E300-496A-8A74-05C8FDA2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encaminhar sem</a:t>
            </a:r>
          </a:p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2D9E5-8951-469F-A3A5-AB61AE0A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encaminhar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E1B56-C680-404E-8BF7-C63FBE5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100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aplicar critério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3C70A-2D78-4E22-965F-A74FF2B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inspeção</a:t>
            </a:r>
          </a:p>
          <a:p xmlns:a="http://schemas.openxmlformats.org/drawingml/2006/main">
            <a:pPr>
              <a:defRPr sz="1575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finalizada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E4546-2F4C-4128-B61E-CDA87D5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Coleta complementar retorna à triagem. Inicial: Aguardando ocorrência. Final: Encerrado.</a:t>
            </a:r>
          </a:p>
        </p:txBody>
      </p:sp>
    </p:spTree>
    <p:extLst>
      <p:ext uri="{BB962C8B-B14F-4D97-AF65-F5344CB8AC3E}">
        <p14:creationId xmlns:p14="http://schemas.microsoft.com/office/powerpoint/2010/main" val="1043954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2D7D3-7A90-4FB4-943B-38E7893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Base declarativa em Prolog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C9C6C-F59F-415B-96B8-B3EC03E9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hipotese(Caso, sobrecarga, r01) :-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90893-F6ED-4800-BF4C-A7BB0127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    temperatura_elevada(Caso),</a:t>
            </a:r>
          </a:p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    corrente_elevada(Caso).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F843F-F8D1-499A-A74B-07769D68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Fatos descrevem sintomas. A regra produz a hipótese.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DAD1D-B3BB-4166-B5F6-8DFB1A6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A base não usa listas, recursão, corte ou negação.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3A7F7-ECA3-48A9-87FC-64F03DB4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89487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E14E0-220A-4170-ACE4-5DC6801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Consultas de sucesso e falha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9665B-6899-4F9F-B688-44A3605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hipotese(c01, sobrecarga, r01).     Resultado previsto: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A7126-5132-4670-9262-ACA7C47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hipotese(c05, sobrecarga, r01).     Resultado previsto: false.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69446-428A-44ED-A8E5-9FDE3D6B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C01 tem os dois sintomas. C05 informa corrente não elevada.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78DDA-63D0-41E9-A86A-F53D87C8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E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72E43"/>
                </a:solidFill>
                <a:latin typeface="Consolas"/>
                <a:ea typeface="Consolas"/>
                <a:cs typeface="Consolas"/>
              </a:rPr>
              <a:t>false significa que a base não forneceu uma prova.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A91C-F9D1-4D5E-8743-DB91EC7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70768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6A82D-C71C-4817-8B95-CF110BD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Trace e unificação no C04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1EB55-DE82-4205-8267-FBF504BA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R01: temperatura sucede e corrente falha.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0BBAC-5A40-41FF-B943-93143C9B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R02: vibração e ruído sucedem. Primeira resposta.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95A76-41B4-454C-A26A-35F0A345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pedido ; retoma a busca. R03 falha no tipo bomba.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FE788-6454-48C1-9476-A9E484A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R04 sucede. Segunda resposta: condição crítica.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39AC8-E6F6-4528-89BD-24C1351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330769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3718C-CBE9-45AC-93F2-DE2C206B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Portas do trace e busca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C9CD-F85A-41E6-8F1F-BFE29771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Call: tentativa de um objetivo. Exit: prova encontrada.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1E70B-7392-4A52-800D-293A403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Fail: tentativa sem prova. Redo: retomada para alternativa.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71AE-EE2A-4DBF-A13B-0ECF0B1F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Cláusulas de cima para baixo, objetivos da esquerda para a direita.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E3E2E-2649-4CB8-8386-CC775BC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C05 específico não mostra Redo. C04 demonstra as quatro portas.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DA131-8504-4322-AC82-B1E0A5A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64170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1A3B4-97A4-43BD-A622-A76AF6A8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Validação cruzada dos seis casos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52914-FB67-4790-BCCA-959F2D13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952750"/>
                <a:gridCol w="6477000"/>
              </a:tblGrid>
              <a:tr h="59871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Regras provadas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Estado após a triagem</a:t>
                      </a:r>
                    </a:p>
                  </a:txBody>
                  <a:tcPr marL="95250" marR="95250" marT="76200" marB="76200" anchor="ctr">
                    <a:solidFill>
                      <a:srgbClr val="E1EB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R01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R03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 identificada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R02 e R04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Hipóteses concorrentes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C05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Nenhuma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Triagem inconclusiva</a:t>
                      </a:r>
                    </a:p>
                  </a:txBody>
                  <a:tcPr marL="95250" marR="95250" marT="76200" marB="76200" anchor="ctr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C06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Nenhuma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E43"/>
                          </a:solidFill>
                          <a:latin typeface="Arial"/>
                          <a:ea typeface="Arial"/>
                          <a:cs typeface="Arial"/>
                        </a:rPr>
                        <a:t>Triagem inconclusiva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3930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F6FE4-AC2A-4305-8CA5-AD7AC5E8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Evoluções independentes da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5574D-8016-47F6-AD86-6615539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Parte A: ruído acrescentado a C06 permite provar R03.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D12F6-B75E-4525-B9AE-F17D375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Parte B: R05 exige bomba, fluxo reduzido e corrente elevada.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02D4A-E713-4ECA-BBD1-9CEF5404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Só acrescentar R05 não muda C06 sem corrente informada.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07107-1518-48FF-AF35-4441B4D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Na entrada positiva da Parte B, C06 sustenta obstrução por R05.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07D1B-BF98-4082-962E-EF448DB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34792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A1177-C89F-4082-B2E4-39A8803C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Novo caso C07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CE370-1C79-4F5C-8F2D-BD9080F0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Bomba B1 com temperatura, vibração, ruído e fluxo reduzido.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CEB01-C041-458F-835E-0D16453F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Previsão: R02, R03 e R04. A corrente não foi informada.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5D9F-EC88-44E0-9EA9-8C2D3459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A consulta retorna três hipóteses, com dois pedidos de próxima solução.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7BC5B-B179-4D95-87FC-8F4A72F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Hipóteses concorrentes e encaminhamento para inspeção prioritária.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9B7F5-58A4-45F9-ABA3-A310BAE2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09337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818C1-6A07-42E7-98B5-4B434363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Raciocínio e limites da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AA56D-DB4B-47B2-9277-34E6559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Efeito observado para causa possível é inferência abdutiva.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A6186-F054-4E27-BEA0-4AFE8697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Indução pode construir associações. A transcrição não descreve essa aquisição.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2E92-FC52-4A6D-B2AF-85CF5F1D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O motor deduz a classificação usando fatos e regras já declarados.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842C-EC4B-4588-8F42-0D211A84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Mundo fechado: ausência de prova não demonstra ausência da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B21BB-394A-4320-81B2-36B22684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578314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6EE85-1AB3-4569-B73D-9EF80BD8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E43"/>
                </a:solidFill>
                <a:latin typeface="Arial"/>
                <a:ea typeface="Arial"/>
                <a:cs typeface="Arial"/>
              </a:rPr>
              <a:t>Resultados e demonstração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A40FB-805D-4E14-9E5A-2B404FD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298 verificações aprovadas com SWI-Prolog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07D0D-3FB6-401F-88CE-44B9347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Sete casos, evoluções, 256 provas de antecedentes e onze transições.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63B8-105A-4A11-8C5B-4CE2913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Cada hipótese mantém sua regra e os sintomas que a sustentam.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7D2E-30E2-43DF-AE09-25257A1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E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E43"/>
                </a:solidFill>
                <a:latin typeface="Arial"/>
                <a:ea typeface="Arial"/>
                <a:cs typeface="Arial"/>
              </a:rPr>
              <a:t>Uma mudança de fato exige nova previsão antes da consulta.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97396-64E4-448F-80E2-075C34A6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B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B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90348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2026-10-01T22:22:41.4850000Z</dcterms:created>
  <dcterms:modified xsi:type="dcterms:W3CDTF">2026-10-01T22:22:41.4850000Z</dcterms:modified>
</coreProperties>
</file>